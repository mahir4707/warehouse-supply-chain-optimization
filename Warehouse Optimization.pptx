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sldIdLst>
    <p:sldId id="256" r:id="rId3"/>
    <p:sldId id="257" r:id="rId4"/>
    <p:sldId id="268" r:id="rId5"/>
    <p:sldId id="259" r:id="rId6"/>
    <p:sldId id="258" r:id="rId7"/>
    <p:sldId id="269" r:id="rId8"/>
    <p:sldId id="270" r:id="rId9"/>
    <p:sldId id="271" r:id="rId10"/>
    <p:sldId id="272" r:id="rId11"/>
    <p:sldId id="273" r:id="rId12"/>
    <p:sldId id="261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hyperlink" Target="https://bit.ly/3A1uf1Q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hyperlink" Target="http://bit.ly/2TtBDfr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72360" y="1482840"/>
            <a:ext cx="7198920" cy="147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" name="Google Shape;12;p2"/>
          <p:cNvGrpSpPr/>
          <p:nvPr/>
        </p:nvGrpSpPr>
        <p:grpSpPr>
          <a:xfrm>
            <a:off x="-6840" y="1440"/>
            <a:ext cx="9163440" cy="5147280"/>
            <a:chOff x="-6840" y="1440"/>
            <a:chExt cx="9163440" cy="5147280"/>
          </a:xfrm>
        </p:grpSpPr>
        <p:grpSp>
          <p:nvGrpSpPr>
            <p:cNvPr id="5" name="Google Shape;13;p2"/>
            <p:cNvGrpSpPr/>
            <p:nvPr/>
          </p:nvGrpSpPr>
          <p:grpSpPr>
            <a:xfrm>
              <a:off x="2641320" y="4619520"/>
              <a:ext cx="6515280" cy="529200"/>
              <a:chOff x="2641320" y="4619520"/>
              <a:chExt cx="6515280" cy="529200"/>
            </a:xfrm>
          </p:grpSpPr>
          <p:pic>
            <p:nvPicPr>
              <p:cNvPr id="6" name="Google Shape;14;p2"/>
              <p:cNvPicPr/>
              <p:nvPr/>
            </p:nvPicPr>
            <p:blipFill>
              <a:blip r:embed="rId3"/>
              <a:stretch/>
            </p:blipFill>
            <p:spPr>
              <a:xfrm rot="10800000">
                <a:off x="2641320" y="4619160"/>
                <a:ext cx="6515280" cy="5292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7" name="Google Shape;15;p2"/>
              <p:cNvPicPr/>
              <p:nvPr/>
            </p:nvPicPr>
            <p:blipFill>
              <a:blip r:embed="rId4"/>
              <a:stretch/>
            </p:blipFill>
            <p:spPr>
              <a:xfrm rot="10800000">
                <a:off x="7308360" y="4849560"/>
                <a:ext cx="1585080" cy="68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8" name="Google Shape;16;p2"/>
            <p:cNvGrpSpPr/>
            <p:nvPr/>
          </p:nvGrpSpPr>
          <p:grpSpPr>
            <a:xfrm>
              <a:off x="-6840" y="1440"/>
              <a:ext cx="6523200" cy="535680"/>
              <a:chOff x="-6840" y="1440"/>
              <a:chExt cx="6523200" cy="535680"/>
            </a:xfrm>
          </p:grpSpPr>
          <p:pic>
            <p:nvPicPr>
              <p:cNvPr id="9" name="Google Shape;17;p2"/>
              <p:cNvPicPr/>
              <p:nvPr/>
            </p:nvPicPr>
            <p:blipFill>
              <a:blip r:embed="rId5"/>
              <a:stretch/>
            </p:blipFill>
            <p:spPr>
              <a:xfrm>
                <a:off x="-6840" y="1440"/>
                <a:ext cx="6523200" cy="535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" name="Google Shape;18;p2"/>
              <p:cNvPicPr/>
              <p:nvPr/>
            </p:nvPicPr>
            <p:blipFill>
              <a:blip r:embed="rId4"/>
              <a:stretch/>
            </p:blipFill>
            <p:spPr>
              <a:xfrm>
                <a:off x="258480" y="248040"/>
                <a:ext cx="1585080" cy="68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11" name="Google Shape;19;p2"/>
          <p:cNvGrpSpPr/>
          <p:nvPr/>
        </p:nvGrpSpPr>
        <p:grpSpPr>
          <a:xfrm>
            <a:off x="-6840" y="-7560"/>
            <a:ext cx="9157320" cy="5158440"/>
            <a:chOff x="-6840" y="-7560"/>
            <a:chExt cx="9157320" cy="5158440"/>
          </a:xfrm>
        </p:grpSpPr>
        <p:pic>
          <p:nvPicPr>
            <p:cNvPr id="12" name="Google Shape;20;p2"/>
            <p:cNvPicPr/>
            <p:nvPr/>
          </p:nvPicPr>
          <p:blipFill>
            <a:blip r:embed="rId6"/>
            <a:stretch/>
          </p:blipFill>
          <p:spPr>
            <a:xfrm>
              <a:off x="7899120" y="-7560"/>
              <a:ext cx="1251360" cy="1251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" name="Google Shape;21;p2"/>
            <p:cNvPicPr/>
            <p:nvPr/>
          </p:nvPicPr>
          <p:blipFill>
            <a:blip r:embed="rId7"/>
            <a:stretch/>
          </p:blipFill>
          <p:spPr>
            <a:xfrm>
              <a:off x="-6840" y="3899520"/>
              <a:ext cx="1251360" cy="12513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285;p2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13160" y="540000"/>
            <a:ext cx="415116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13160" y="539640"/>
            <a:ext cx="307224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44" name="Google Shape;289;p29"/>
          <p:cNvGrpSpPr/>
          <p:nvPr/>
        </p:nvGrpSpPr>
        <p:grpSpPr>
          <a:xfrm>
            <a:off x="-6840" y="0"/>
            <a:ext cx="9150840" cy="5153760"/>
            <a:chOff x="-6840" y="0"/>
            <a:chExt cx="9150840" cy="5153760"/>
          </a:xfrm>
        </p:grpSpPr>
        <p:grpSp>
          <p:nvGrpSpPr>
            <p:cNvPr id="45" name="Google Shape;290;p29"/>
            <p:cNvGrpSpPr/>
            <p:nvPr/>
          </p:nvGrpSpPr>
          <p:grpSpPr>
            <a:xfrm>
              <a:off x="5355000" y="0"/>
              <a:ext cx="3789000" cy="358920"/>
              <a:chOff x="5355000" y="0"/>
              <a:chExt cx="3789000" cy="358920"/>
            </a:xfrm>
          </p:grpSpPr>
          <p:pic>
            <p:nvPicPr>
              <p:cNvPr id="46" name="Google Shape;291;p29"/>
              <p:cNvPicPr/>
              <p:nvPr/>
            </p:nvPicPr>
            <p:blipFill>
              <a:blip r:embed="rId3"/>
              <a:stretch/>
            </p:blipFill>
            <p:spPr>
              <a:xfrm flipH="1">
                <a:off x="5355000" y="0"/>
                <a:ext cx="3789000" cy="3589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47" name="Google Shape;292;p29"/>
              <p:cNvPicPr/>
              <p:nvPr/>
            </p:nvPicPr>
            <p:blipFill>
              <a:blip r:embed="rId4"/>
              <a:stretch/>
            </p:blipFill>
            <p:spPr>
              <a:xfrm flipH="1">
                <a:off x="7293960" y="145080"/>
                <a:ext cx="1585080" cy="68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48" name="Google Shape;293;p29"/>
            <p:cNvGrpSpPr/>
            <p:nvPr/>
          </p:nvGrpSpPr>
          <p:grpSpPr>
            <a:xfrm>
              <a:off x="-6840" y="4766040"/>
              <a:ext cx="3785400" cy="387720"/>
              <a:chOff x="-6840" y="4766040"/>
              <a:chExt cx="3785400" cy="387720"/>
            </a:xfrm>
          </p:grpSpPr>
          <p:pic>
            <p:nvPicPr>
              <p:cNvPr id="49" name="Google Shape;294;p29"/>
              <p:cNvPicPr/>
              <p:nvPr/>
            </p:nvPicPr>
            <p:blipFill>
              <a:blip r:embed="rId5"/>
              <a:stretch/>
            </p:blipFill>
            <p:spPr>
              <a:xfrm rot="10800000" flipH="1">
                <a:off x="-6840" y="4766040"/>
                <a:ext cx="3785400" cy="3877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50" name="Google Shape;295;p29"/>
              <p:cNvPicPr/>
              <p:nvPr/>
            </p:nvPicPr>
            <p:blipFill>
              <a:blip r:embed="rId4"/>
              <a:stretch/>
            </p:blipFill>
            <p:spPr>
              <a:xfrm rot="10800000" flipH="1">
                <a:off x="256680" y="4925520"/>
                <a:ext cx="1585080" cy="68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51" name="Google Shape;296;p29"/>
          <p:cNvGrpSpPr/>
          <p:nvPr/>
        </p:nvGrpSpPr>
        <p:grpSpPr>
          <a:xfrm>
            <a:off x="360" y="-11520"/>
            <a:ext cx="9143640" cy="5154480"/>
            <a:chOff x="360" y="-11520"/>
            <a:chExt cx="9143640" cy="5154480"/>
          </a:xfrm>
        </p:grpSpPr>
        <p:pic>
          <p:nvPicPr>
            <p:cNvPr id="52" name="Google Shape;297;p29"/>
            <p:cNvPicPr/>
            <p:nvPr/>
          </p:nvPicPr>
          <p:blipFill>
            <a:blip r:embed="rId6"/>
            <a:stretch/>
          </p:blipFill>
          <p:spPr>
            <a:xfrm flipH="1">
              <a:off x="360" y="-11520"/>
              <a:ext cx="972360" cy="972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3" name="Google Shape;298;p29"/>
            <p:cNvPicPr/>
            <p:nvPr/>
          </p:nvPicPr>
          <p:blipFill>
            <a:blip r:embed="rId7"/>
            <a:stretch/>
          </p:blipFill>
          <p:spPr>
            <a:xfrm flipH="1">
              <a:off x="8171640" y="4170600"/>
              <a:ext cx="972360" cy="9723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4" name="Google Shape;299;p29"/>
          <p:cNvSpPr/>
          <p:nvPr/>
        </p:nvSpPr>
        <p:spPr>
          <a:xfrm>
            <a:off x="713160" y="3542400"/>
            <a:ext cx="3425040" cy="64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Poppins"/>
                <a:ea typeface="Poppins"/>
                <a:hlinkClick r:id="rId8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  <a:hlinkClick r:id="rId9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34;p15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13160" y="987480"/>
            <a:ext cx="4294440" cy="106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643720" y="539640"/>
            <a:ext cx="278676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18" name="Google Shape;138;p15"/>
          <p:cNvPicPr/>
          <p:nvPr/>
        </p:nvPicPr>
        <p:blipFill>
          <a:blip r:embed="rId3"/>
          <a:stretch/>
        </p:blipFill>
        <p:spPr>
          <a:xfrm rot="16200000" flipH="1">
            <a:off x="0" y="4170600"/>
            <a:ext cx="972360" cy="97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Google Shape;139;p15"/>
          <p:cNvPicPr/>
          <p:nvPr/>
        </p:nvPicPr>
        <p:blipFill>
          <a:blip r:embed="rId4"/>
          <a:srcRect t="131" b="131"/>
          <a:stretch/>
        </p:blipFill>
        <p:spPr>
          <a:xfrm rot="16200000">
            <a:off x="7509600" y="3504240"/>
            <a:ext cx="1716480" cy="13075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0" name="Google Shape;140;p15"/>
          <p:cNvGrpSpPr/>
          <p:nvPr/>
        </p:nvGrpSpPr>
        <p:grpSpPr>
          <a:xfrm>
            <a:off x="0" y="0"/>
            <a:ext cx="5837400" cy="535680"/>
            <a:chOff x="0" y="0"/>
            <a:chExt cx="5837400" cy="535680"/>
          </a:xfrm>
        </p:grpSpPr>
        <p:pic>
          <p:nvPicPr>
            <p:cNvPr id="21" name="Google Shape;141;p15"/>
            <p:cNvPicPr/>
            <p:nvPr/>
          </p:nvPicPr>
          <p:blipFill>
            <a:blip r:embed="rId5"/>
            <a:stretch/>
          </p:blipFill>
          <p:spPr>
            <a:xfrm>
              <a:off x="0" y="0"/>
              <a:ext cx="5837400" cy="535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" name="Google Shape;142;p15"/>
            <p:cNvPicPr/>
            <p:nvPr/>
          </p:nvPicPr>
          <p:blipFill>
            <a:blip r:embed="rId6"/>
            <a:stretch/>
          </p:blipFill>
          <p:spPr>
            <a:xfrm>
              <a:off x="264960" y="246600"/>
              <a:ext cx="1585080" cy="68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163;p18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5" name="Google Shape;165;p18"/>
          <p:cNvGrpSpPr/>
          <p:nvPr/>
        </p:nvGrpSpPr>
        <p:grpSpPr>
          <a:xfrm>
            <a:off x="2620800" y="0"/>
            <a:ext cx="6523200" cy="369720"/>
            <a:chOff x="2620800" y="0"/>
            <a:chExt cx="6523200" cy="369720"/>
          </a:xfrm>
        </p:grpSpPr>
        <p:pic>
          <p:nvPicPr>
            <p:cNvPr id="26" name="Google Shape;166;p18"/>
            <p:cNvPicPr/>
            <p:nvPr/>
          </p:nvPicPr>
          <p:blipFill>
            <a:blip r:embed="rId3"/>
            <a:stretch/>
          </p:blipFill>
          <p:spPr>
            <a:xfrm flipH="1">
              <a:off x="2620800" y="0"/>
              <a:ext cx="6523200" cy="369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" name="Google Shape;167;p18"/>
            <p:cNvPicPr/>
            <p:nvPr/>
          </p:nvPicPr>
          <p:blipFill>
            <a:blip r:embed="rId4"/>
            <a:stretch/>
          </p:blipFill>
          <p:spPr>
            <a:xfrm flipH="1">
              <a:off x="7293960" y="150480"/>
              <a:ext cx="1585080" cy="68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8" name="Google Shape;168;p18"/>
          <p:cNvGrpSpPr/>
          <p:nvPr/>
        </p:nvGrpSpPr>
        <p:grpSpPr>
          <a:xfrm>
            <a:off x="360" y="0"/>
            <a:ext cx="9143640" cy="5142960"/>
            <a:chOff x="360" y="0"/>
            <a:chExt cx="9143640" cy="5142960"/>
          </a:xfrm>
        </p:grpSpPr>
        <p:pic>
          <p:nvPicPr>
            <p:cNvPr id="29" name="Google Shape;169;p18"/>
            <p:cNvPicPr/>
            <p:nvPr/>
          </p:nvPicPr>
          <p:blipFill>
            <a:blip r:embed="rId5"/>
            <a:stretch/>
          </p:blipFill>
          <p:spPr>
            <a:xfrm flipH="1">
              <a:off x="360" y="0"/>
              <a:ext cx="972360" cy="972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0" name="Google Shape;170;p18"/>
            <p:cNvPicPr/>
            <p:nvPr/>
          </p:nvPicPr>
          <p:blipFill>
            <a:blip r:embed="rId6"/>
            <a:stretch/>
          </p:blipFill>
          <p:spPr>
            <a:xfrm flipH="1">
              <a:off x="8171640" y="4170600"/>
              <a:ext cx="972360" cy="9723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2145600" y="2102040"/>
            <a:ext cx="4852440" cy="176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237;p23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4" name="Google Shape;239;p23"/>
          <p:cNvGrpSpPr/>
          <p:nvPr/>
        </p:nvGrpSpPr>
        <p:grpSpPr>
          <a:xfrm>
            <a:off x="0" y="0"/>
            <a:ext cx="6523200" cy="369720"/>
            <a:chOff x="0" y="0"/>
            <a:chExt cx="6523200" cy="369720"/>
          </a:xfrm>
        </p:grpSpPr>
        <p:pic>
          <p:nvPicPr>
            <p:cNvPr id="35" name="Google Shape;240;p23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6523200" cy="369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" name="Google Shape;241;p23"/>
            <p:cNvPicPr/>
            <p:nvPr/>
          </p:nvPicPr>
          <p:blipFill>
            <a:blip r:embed="rId4"/>
            <a:stretch/>
          </p:blipFill>
          <p:spPr>
            <a:xfrm>
              <a:off x="264960" y="150480"/>
              <a:ext cx="1585080" cy="68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7" name="Google Shape;242;p23"/>
          <p:cNvGrpSpPr/>
          <p:nvPr/>
        </p:nvGrpSpPr>
        <p:grpSpPr>
          <a:xfrm>
            <a:off x="0" y="0"/>
            <a:ext cx="9143640" cy="5142960"/>
            <a:chOff x="0" y="0"/>
            <a:chExt cx="9143640" cy="5142960"/>
          </a:xfrm>
        </p:grpSpPr>
        <p:pic>
          <p:nvPicPr>
            <p:cNvPr id="38" name="Google Shape;243;p23"/>
            <p:cNvPicPr/>
            <p:nvPr/>
          </p:nvPicPr>
          <p:blipFill>
            <a:blip r:embed="rId5"/>
            <a:stretch/>
          </p:blipFill>
          <p:spPr>
            <a:xfrm>
              <a:off x="8171280" y="0"/>
              <a:ext cx="972360" cy="972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9" name="Google Shape;244;p23"/>
            <p:cNvPicPr/>
            <p:nvPr/>
          </p:nvPicPr>
          <p:blipFill>
            <a:blip r:embed="rId6"/>
            <a:stretch/>
          </p:blipFill>
          <p:spPr>
            <a:xfrm>
              <a:off x="0" y="4170600"/>
              <a:ext cx="972360" cy="9723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520176" y="965046"/>
            <a:ext cx="5696789" cy="12875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8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Apana Time Internship Project</a:t>
            </a:r>
            <a:br>
              <a:rPr lang="fr-FR" sz="28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fr-FR" sz="28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 Analysis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2639122" y="2252546"/>
            <a:ext cx="5778565" cy="170985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Name: 	 Mahir Sama </a:t>
            </a: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Batch No: ATTSDA2603</a:t>
            </a: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Mentor: 	 Anish Sir</a:t>
            </a: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		 Arihant Sir</a:t>
            </a: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Duration: </a:t>
            </a:r>
            <a:r>
              <a:rPr lang="en-US" sz="18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March - April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23A524-58E9-BD49-687A-D41A2579F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54" y="1361318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14240" y="1340125"/>
            <a:ext cx="4295520" cy="76373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Business Proble</a:t>
            </a:r>
            <a:r>
              <a:rPr lang="en-US" sz="3000" b="1" dirty="0">
                <a:solidFill>
                  <a:schemeClr val="dk1"/>
                </a:solidFill>
                <a:latin typeface="Poppins"/>
                <a:ea typeface="Poppins"/>
              </a:rPr>
              <a:t>m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714240" y="2103864"/>
            <a:ext cx="6905760" cy="214010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Warehouse operations face multiple challenges: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Delivery delays affecting customer experience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Inventory imbalance (stockouts &amp; overstock)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High operational cost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Demand forecast mismatch</a:t>
            </a:r>
          </a:p>
          <a:p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Key issue: 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Lack of visibility across operations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Goal:</a:t>
            </a:r>
            <a:r>
              <a:rPr lang="en-IN" sz="1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Use data to identify inefficiencies and improve decision-making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F29CB0-D177-6DA1-DB9B-BFF948E253AE}"/>
              </a:ext>
            </a:extLst>
          </p:cNvPr>
          <p:cNvSpPr txBox="1"/>
          <p:nvPr/>
        </p:nvSpPr>
        <p:spPr>
          <a:xfrm>
            <a:off x="714240" y="755350"/>
            <a:ext cx="7329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Warehouse Supply chain Project</a:t>
            </a:r>
            <a:endParaRPr lang="en-IN" sz="3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E1F5A-352A-8A4F-7567-8305E5974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>
            <a:extLst>
              <a:ext uri="{FF2B5EF4-FFF2-40B4-BE49-F238E27FC236}">
                <a16:creationId xmlns:a16="http://schemas.microsoft.com/office/drawing/2014/main" id="{11DF6328-CF75-8CAD-6074-B6A35B820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20" y="472903"/>
            <a:ext cx="4295520" cy="106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3200" b="1" dirty="0">
                <a:latin typeface="Poppins" panose="00000500000000000000" pitchFamily="2" charset="0"/>
                <a:cs typeface="Poppins" panose="00000500000000000000" pitchFamily="2" charset="0"/>
              </a:rPr>
              <a:t>PROJECT APPROACH</a:t>
            </a:r>
            <a:endParaRPr lang="fr-FR" sz="3000" b="1" u="none" strike="noStrike" dirty="0">
              <a:solidFill>
                <a:schemeClr val="dk1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47F198-768C-7117-51F2-AAA5469229C5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660311" y="3631758"/>
            <a:ext cx="47422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Focus: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D4895-972E-C436-16B8-015EBE97DAED}"/>
              </a:ext>
            </a:extLst>
          </p:cNvPr>
          <p:cNvSpPr txBox="1"/>
          <p:nvPr/>
        </p:nvSpPr>
        <p:spPr>
          <a:xfrm>
            <a:off x="660311" y="1539223"/>
            <a:ext cx="48249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Step 1: Data analysis using Python</a:t>
            </a:r>
          </a:p>
          <a:p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Step 2: Feature engineering 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Demand gap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Inventory utilization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Profit margin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Risk score</a:t>
            </a:r>
          </a:p>
          <a:p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Step 3: Data extraction using SQL</a:t>
            </a:r>
          </a:p>
          <a:p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Step 4: Visualization using Power BI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CC3B1-65E5-3AE7-2B0F-2C7E380C5770}"/>
              </a:ext>
            </a:extLst>
          </p:cNvPr>
          <p:cNvSpPr txBox="1"/>
          <p:nvPr/>
        </p:nvSpPr>
        <p:spPr>
          <a:xfrm>
            <a:off x="1210596" y="3939189"/>
            <a:ext cx="4274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Converting data into actionable insights</a:t>
            </a:r>
          </a:p>
        </p:txBody>
      </p:sp>
    </p:spTree>
    <p:extLst>
      <p:ext uri="{BB962C8B-B14F-4D97-AF65-F5344CB8AC3E}">
        <p14:creationId xmlns:p14="http://schemas.microsoft.com/office/powerpoint/2010/main" val="3133117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/>
          <p:cNvSpPr/>
          <p:nvPr/>
        </p:nvSpPr>
        <p:spPr>
          <a:xfrm>
            <a:off x="619200" y="477951"/>
            <a:ext cx="5521405" cy="5776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>
              <a:tabLst>
                <a:tab pos="0" algn="l"/>
              </a:tabLst>
            </a:pPr>
            <a:r>
              <a:rPr lang="en-IN" sz="3200" b="1" dirty="0">
                <a:latin typeface="Poppins" panose="00000500000000000000" pitchFamily="2" charset="0"/>
                <a:cs typeface="Poppins" panose="00000500000000000000" pitchFamily="2" charset="0"/>
              </a:rPr>
              <a:t>DATA UNDERSTANDING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19200" y="973873"/>
            <a:ext cx="7905240" cy="39400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Dataset contains warehouse-level operations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Covers:</a:t>
            </a:r>
          </a:p>
          <a:p>
            <a:pPr lvl="1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Sales and demand </a:t>
            </a:r>
          </a:p>
          <a:p>
            <a:pPr lvl="1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Inventory and capacity </a:t>
            </a:r>
          </a:p>
          <a:p>
            <a:pPr lvl="1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Cost and profit </a:t>
            </a:r>
          </a:p>
          <a:p>
            <a:pPr lvl="1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Delivery performance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Key fields: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Monthly Sales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Demand Forecast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Current Stock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Total time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Total cost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Profit margin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Insight: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200" b="0" u="none" strike="noStrike" dirty="0">
                <a:solidFill>
                  <a:schemeClr val="dk1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Dataset allows full operational analysis</a:t>
            </a: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699304" y="833546"/>
            <a:ext cx="3984207" cy="5789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dirty="0">
                <a:solidFill>
                  <a:schemeClr val="dk1"/>
                </a:solidFill>
                <a:latin typeface="Poppins"/>
              </a:rPr>
              <a:t>Tech and tools Used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AE5571-A759-8C8C-29B8-14F109CA8F64}"/>
              </a:ext>
            </a:extLst>
          </p:cNvPr>
          <p:cNvSpPr txBox="1"/>
          <p:nvPr/>
        </p:nvSpPr>
        <p:spPr>
          <a:xfrm>
            <a:off x="699304" y="1412488"/>
            <a:ext cx="75302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SQL</a:t>
            </a:r>
            <a:r>
              <a:rPr lang="en-IN" sz="1400" dirty="0">
                <a:latin typeface="Poppins" panose="00000500000000000000" pitchFamily="2" charset="0"/>
                <a:cs typeface="Poppins" panose="00000500000000000000" pitchFamily="2" charset="0"/>
              </a:rPr>
              <a:t> → Data extraction &amp; querying </a:t>
            </a:r>
          </a:p>
          <a:p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Python (Numpy, Pandas &amp; Matplotlib)</a:t>
            </a:r>
            <a:r>
              <a:rPr lang="en-IN" sz="1400" dirty="0">
                <a:latin typeface="Poppins" panose="00000500000000000000" pitchFamily="2" charset="0"/>
                <a:cs typeface="Poppins" panose="00000500000000000000" pitchFamily="2" charset="0"/>
              </a:rPr>
              <a:t> → Analysis &amp; feature engineering </a:t>
            </a:r>
          </a:p>
          <a:p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Power BI</a:t>
            </a:r>
            <a:r>
              <a:rPr lang="en-IN" sz="1400" dirty="0">
                <a:latin typeface="Poppins" panose="00000500000000000000" pitchFamily="2" charset="0"/>
                <a:cs typeface="Poppins" panose="00000500000000000000" pitchFamily="2" charset="0"/>
              </a:rPr>
              <a:t> → Dashboard &amp; visualization </a:t>
            </a:r>
          </a:p>
          <a:p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EC804-57F7-7C24-E8DE-7CD5191EE32C}"/>
              </a:ext>
            </a:extLst>
          </p:cNvPr>
          <p:cNvSpPr txBox="1"/>
          <p:nvPr/>
        </p:nvSpPr>
        <p:spPr>
          <a:xfrm>
            <a:off x="699304" y="2551261"/>
            <a:ext cx="53537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Workflow:</a:t>
            </a: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		Python → SQL → Power BI</a:t>
            </a:r>
          </a:p>
          <a:p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71D59-08DE-3072-8948-FEF0F1283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A4741BC1-34C3-8046-D393-130180F57638}"/>
              </a:ext>
            </a:extLst>
          </p:cNvPr>
          <p:cNvSpPr/>
          <p:nvPr/>
        </p:nvSpPr>
        <p:spPr>
          <a:xfrm>
            <a:off x="619380" y="552293"/>
            <a:ext cx="7905240" cy="8824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Poppins"/>
              </a:rPr>
              <a:t>Business Problem 1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Poppins"/>
              </a:rPr>
              <a:t>Delivery Performance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A6C4FC7-12EF-4A41-FC4A-577A3F32D2B2}"/>
              </a:ext>
            </a:extLst>
          </p:cNvPr>
          <p:cNvSpPr/>
          <p:nvPr/>
        </p:nvSpPr>
        <p:spPr>
          <a:xfrm>
            <a:off x="1412488" y="1315845"/>
            <a:ext cx="6646127" cy="341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Problem: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Some warehouses have higher delivery time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Analysis:</a:t>
            </a:r>
          </a:p>
          <a:p>
            <a:pPr marL="1085850" lvl="2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Compared actual vs expected delivery time</a:t>
            </a:r>
          </a:p>
          <a:p>
            <a:pPr marL="1085850" lvl="2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Separated processing and shipping time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Insight: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0" u="none" strike="noStrike" dirty="0">
                <a:solidFill>
                  <a:schemeClr val="dk1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Shipping contributes majority of delays</a:t>
            </a: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Action: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Optimize delivery routes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Improve internal processing efficiency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Use top-performing warehouses as benchmark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1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C41F8-4A36-DE33-A485-0CAF8EB78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F9E2DE00-D742-7A01-181A-3FD7ACBDF81F}"/>
              </a:ext>
            </a:extLst>
          </p:cNvPr>
          <p:cNvSpPr/>
          <p:nvPr/>
        </p:nvSpPr>
        <p:spPr>
          <a:xfrm>
            <a:off x="619560" y="552294"/>
            <a:ext cx="6718302" cy="9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Business Problem 2</a:t>
            </a:r>
          </a:p>
          <a:p>
            <a:pPr>
              <a:tabLst>
                <a:tab pos="0" algn="l"/>
              </a:tabLst>
            </a:pPr>
            <a:r>
              <a:rPr lang="en-IN" sz="2400" b="1" dirty="0">
                <a:latin typeface="Poppins" panose="00000500000000000000" pitchFamily="2" charset="0"/>
                <a:cs typeface="Poppins" panose="00000500000000000000" pitchFamily="2" charset="0"/>
              </a:rPr>
              <a:t>INVENTORY MANAGEMENT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C845DF1-06B8-5207-C3A9-B4902977E27F}"/>
              </a:ext>
            </a:extLst>
          </p:cNvPr>
          <p:cNvSpPr/>
          <p:nvPr/>
        </p:nvSpPr>
        <p:spPr>
          <a:xfrm>
            <a:off x="1419922" y="1315844"/>
            <a:ext cx="7104518" cy="32082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Problem: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Stockouts and overstock across warehouses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Analysis: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Calculated demand gap (demand – stock)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Identified high-risk locations and categories</a:t>
            </a:r>
            <a:endParaRPr lang="en-IN" sz="1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Insight: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0" u="none" strike="noStrike" dirty="0">
                <a:solidFill>
                  <a:schemeClr val="dk1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Few product categories contribute most shortages</a:t>
            </a: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Action: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Increase stock for high-demand categories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Redistribute excess inventory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Reduce dead stock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366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38077-E4C2-6BC7-2407-F29D14D24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176A4B4A-0372-852E-CA3E-EC1E5B1D18D1}"/>
              </a:ext>
            </a:extLst>
          </p:cNvPr>
          <p:cNvSpPr/>
          <p:nvPr/>
        </p:nvSpPr>
        <p:spPr>
          <a:xfrm>
            <a:off x="619200" y="500254"/>
            <a:ext cx="6629094" cy="8081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Business problem 3</a:t>
            </a:r>
          </a:p>
          <a:p>
            <a:pPr>
              <a:tabLst>
                <a:tab pos="0" algn="l"/>
              </a:tabLst>
            </a:pPr>
            <a:r>
              <a:rPr lang="en-IN" sz="2400" b="1" dirty="0">
                <a:latin typeface="Poppins" panose="00000500000000000000" pitchFamily="2" charset="0"/>
                <a:cs typeface="Poppins" panose="00000500000000000000" pitchFamily="2" charset="0"/>
              </a:rPr>
              <a:t>SALES PERFORMANCE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9D99CDC-C816-8704-68F6-6C32C66388C1}"/>
              </a:ext>
            </a:extLst>
          </p:cNvPr>
          <p:cNvSpPr/>
          <p:nvPr/>
        </p:nvSpPr>
        <p:spPr>
          <a:xfrm>
            <a:off x="1541035" y="1308409"/>
            <a:ext cx="6777775" cy="341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Problem: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Sales not matching demand in some categories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Analysis: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Compared demand vs actual sales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Evaluated supplier contribution</a:t>
            </a:r>
            <a:endParaRPr lang="en-IN" sz="1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Insight: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0" u="none" strike="noStrike" dirty="0">
                <a:solidFill>
                  <a:schemeClr val="dk1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Demand exists but is not fully converted into sales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Action: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Focus on high-demand categories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Improve supplier performance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Reduce product returns and damages</a:t>
            </a:r>
          </a:p>
        </p:txBody>
      </p:sp>
    </p:spTree>
    <p:extLst>
      <p:ext uri="{BB962C8B-B14F-4D97-AF65-F5344CB8AC3E}">
        <p14:creationId xmlns:p14="http://schemas.microsoft.com/office/powerpoint/2010/main" val="1174999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DF2CB-804F-C437-D55E-0BAE838DF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A09A96C-2A74-03BD-AF5F-F87E91215E03}"/>
              </a:ext>
            </a:extLst>
          </p:cNvPr>
          <p:cNvSpPr/>
          <p:nvPr/>
        </p:nvSpPr>
        <p:spPr>
          <a:xfrm>
            <a:off x="619199" y="619201"/>
            <a:ext cx="6249951" cy="7635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Business Problem 4</a:t>
            </a:r>
          </a:p>
          <a:p>
            <a:pPr>
              <a:tabLst>
                <a:tab pos="0" algn="l"/>
              </a:tabLst>
            </a:pPr>
            <a:r>
              <a:rPr lang="en-IN" sz="2400" b="1" dirty="0">
                <a:latin typeface="Poppins" panose="00000500000000000000" pitchFamily="2" charset="0"/>
                <a:cs typeface="Poppins" panose="00000500000000000000" pitchFamily="2" charset="0"/>
              </a:rPr>
              <a:t>COST OPTIMIZATION</a:t>
            </a:r>
            <a:endParaRPr lang="en-US" sz="2000" b="1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BD7152F-D68F-1710-68DB-7E8231A02A81}"/>
              </a:ext>
            </a:extLst>
          </p:cNvPr>
          <p:cNvSpPr/>
          <p:nvPr/>
        </p:nvSpPr>
        <p:spPr>
          <a:xfrm>
            <a:off x="1484087" y="1382751"/>
            <a:ext cx="7905240" cy="341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Problem: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High operational cost in some warehouses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Analysis: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Compared cost vs sales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Calculated cost per unit</a:t>
            </a:r>
            <a:endParaRPr lang="en-IN" sz="1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Insight: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0" u="none" strike="noStrike" dirty="0">
                <a:solidFill>
                  <a:schemeClr val="dk1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Some warehouses are inefficient (high cost, low output)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Action: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Reduce transportation and storage cost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Benchmark against efficient warehouses</a:t>
            </a:r>
            <a:endParaRPr lang="en-IN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010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6F3AA-D6B6-92B7-C4CF-0B551C827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973AB96F-3215-A310-1FB3-AE6CCF037554}"/>
              </a:ext>
            </a:extLst>
          </p:cNvPr>
          <p:cNvSpPr/>
          <p:nvPr/>
        </p:nvSpPr>
        <p:spPr>
          <a:xfrm>
            <a:off x="619199" y="619200"/>
            <a:ext cx="6465541" cy="9940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Business Problem 5</a:t>
            </a:r>
          </a:p>
          <a:p>
            <a:pPr>
              <a:tabLst>
                <a:tab pos="0" algn="l"/>
              </a:tabLst>
            </a:pPr>
            <a:r>
              <a:rPr lang="en-IN" sz="2400" b="1" dirty="0">
                <a:latin typeface="Poppins" panose="00000500000000000000" pitchFamily="2" charset="0"/>
                <a:cs typeface="Poppins" panose="00000500000000000000" pitchFamily="2" charset="0"/>
              </a:rPr>
              <a:t>DEMAND FORECASTING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39176B7-85FD-9FC4-52CC-D2028399154F}"/>
              </a:ext>
            </a:extLst>
          </p:cNvPr>
          <p:cNvSpPr/>
          <p:nvPr/>
        </p:nvSpPr>
        <p:spPr>
          <a:xfrm>
            <a:off x="1481562" y="1405054"/>
            <a:ext cx="7905240" cy="341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Problem: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Forecast not aligned with actual sales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Analysis: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Measured forecasting error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Identified under-forecast and over-forecast</a:t>
            </a:r>
            <a:endParaRPr lang="en-IN" sz="1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Insight: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0" u="none" strike="noStrike" dirty="0">
                <a:solidFill>
                  <a:schemeClr val="dk1"/>
                </a:solidFill>
                <a:effectLst/>
                <a:uFillTx/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Forecast mismatch leads to stock imbalance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b="1" dirty="0">
                <a:latin typeface="Poppins" panose="00000500000000000000" pitchFamily="2" charset="0"/>
                <a:cs typeface="Poppins" panose="00000500000000000000" pitchFamily="2" charset="0"/>
              </a:rPr>
              <a:t>Action: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Improve forecasting model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Align inventory planning with demand trends</a:t>
            </a:r>
            <a:endParaRPr lang="en-IN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694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723959" y="483407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3000" b="1" dirty="0">
                <a:latin typeface="Poppins" panose="00000500000000000000" pitchFamily="2" charset="0"/>
                <a:cs typeface="Poppins" panose="00000500000000000000" pitchFamily="2" charset="0"/>
              </a:rPr>
              <a:t>DASHBOARD &amp; IMPACT</a:t>
            </a:r>
            <a:endParaRPr lang="fr-FR" sz="3000" b="1" u="none" strike="noStrike" dirty="0">
              <a:solidFill>
                <a:schemeClr val="dk1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723959" y="1114200"/>
            <a:ext cx="7966557" cy="34864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>
              <a:lnSpc>
                <a:spcPct val="109999"/>
              </a:lnSpc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Dashboard </a:t>
            </a:r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provides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marL="285750" lvl="8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KPI tracking (sales, profit, delivery time) </a:t>
            </a:r>
          </a:p>
          <a:p>
            <a:pPr marL="285750" lvl="8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Inventory visibility </a:t>
            </a:r>
          </a:p>
          <a:p>
            <a:pPr marL="285750" lvl="8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Cost vs performance analysis </a:t>
            </a:r>
          </a:p>
          <a:p>
            <a:pPr marL="285750" lvl="8" indent="-285750">
              <a:lnSpc>
                <a:spcPct val="109999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Demand vs sales comparison</a:t>
            </a:r>
          </a:p>
          <a:p>
            <a:pPr indent="0">
              <a:lnSpc>
                <a:spcPct val="109999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09999"/>
              </a:lnSpc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Business </a:t>
            </a:r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impact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marL="285750" indent="-285750">
              <a:lnSpc>
                <a:spcPct val="109999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Better inventory planning </a:t>
            </a:r>
          </a:p>
          <a:p>
            <a:pPr marL="285750" indent="-285750">
              <a:lnSpc>
                <a:spcPct val="109999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Reduced delivery delays </a:t>
            </a:r>
          </a:p>
          <a:p>
            <a:pPr marL="285750" indent="-285750">
              <a:lnSpc>
                <a:spcPct val="109999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Improved profitability </a:t>
            </a:r>
          </a:p>
          <a:p>
            <a:pPr marL="285750" indent="-285750">
              <a:lnSpc>
                <a:spcPct val="109999"/>
              </a:lnSpc>
              <a:buFont typeface="Wingdings" panose="05000000000000000000" pitchFamily="2" charset="2"/>
              <a:buChar char="ü"/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Faster decision-making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This solution enables end-to-end visibility and control over warehouse supply chain operations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Words>510</Words>
  <Application>Microsoft Office PowerPoint</Application>
  <PresentationFormat>On-screen Show (16:9)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OpenSymbol</vt:lpstr>
      <vt:lpstr>Poppins</vt:lpstr>
      <vt:lpstr>Symbol</vt:lpstr>
      <vt:lpstr>Wingdings</vt:lpstr>
      <vt:lpstr>Industrial Preliminary Project by Slidesgo</vt:lpstr>
      <vt:lpstr>Industrial Preliminary Project by Slidesgo</vt:lpstr>
      <vt:lpstr>Apana Time Internship Project Data Analysis</vt:lpstr>
      <vt:lpstr>Business Problem</vt:lpstr>
      <vt:lpstr>PROJECT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 &amp; IMPACT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Mahir Sama</cp:lastModifiedBy>
  <cp:revision>5</cp:revision>
  <dcterms:modified xsi:type="dcterms:W3CDTF">2026-05-09T14:23:27Z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2026-05-01T12:24:34Z</dcterms:created>
  <dc:creator>Unknown Creator</dc:creator>
  <dc:description/>
  <dc:language>en-US</dc:language>
  <cp:lastModifiedBy>Unknown Creator</cp:lastModifiedBy>
  <dcterms:modified xsi:type="dcterms:W3CDTF">2026-05-01T12:24:34Z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